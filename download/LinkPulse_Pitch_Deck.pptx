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1073885842-4eoo1u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3" y="-1214437"/>
            <a:ext cx="3857625" cy="385762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215063" y="-1214437"/>
            <a:ext cx="3857625" cy="3857625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457200" y="1017426"/>
            <a:ext cx="7429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25" kern="0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INVESTOR CONCEPT DECK - OCTOBER 2026</a:t>
            </a:r>
            <a:endParaRPr lang="en-US" sz="800" dirty="0"/>
          </a:p>
        </p:txBody>
      </p:sp>
      <p:sp>
        <p:nvSpPr>
          <p:cNvPr id="8" name="Text 2"/>
          <p:cNvSpPr/>
          <p:nvPr/>
        </p:nvSpPr>
        <p:spPr>
          <a:xfrm>
            <a:off x="457200" y="1313892"/>
            <a:ext cx="457200" cy="21431"/>
          </a:xfrm>
          <a:prstGeom prst="roundRect">
            <a:avLst>
              <a:gd name="adj" fmla="val 88890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457200" y="1521061"/>
            <a:ext cx="731520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197" kern="0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LinkPulse</a:t>
            </a:r>
            <a:endParaRPr lang="en-US" sz="5400" dirty="0"/>
          </a:p>
        </p:txBody>
      </p:sp>
      <p:sp>
        <p:nvSpPr>
          <p:cNvPr id="10" name="Text 4"/>
          <p:cNvSpPr/>
          <p:nvPr/>
        </p:nvSpPr>
        <p:spPr>
          <a:xfrm>
            <a:off x="457200" y="2349736"/>
            <a:ext cx="5715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spc="-1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connection. Every shilling. One dashboard.</a:t>
            </a:r>
            <a:endParaRPr lang="en-US" sz="1406" dirty="0"/>
          </a:p>
        </p:txBody>
      </p:sp>
      <p:sp>
        <p:nvSpPr>
          <p:cNvPr id="11" name="Text 5"/>
          <p:cNvSpPr/>
          <p:nvPr/>
        </p:nvSpPr>
        <p:spPr>
          <a:xfrm>
            <a:off x="457200" y="2746214"/>
            <a:ext cx="4572000" cy="62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1"/>
              </a:lnSpc>
              <a:buNone/>
            </a:pPr>
            <a:r>
              <a:rPr lang="en-US" sz="928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universal connectivity and spend monitor for East Africa - the open-source Dishylink pattern, generalized from Starlink to every network: mobile data, home fiber, public WiFi and satellite.</a:t>
            </a:r>
            <a:endParaRPr lang="en-US" sz="928" dirty="0"/>
          </a:p>
        </p:txBody>
      </p:sp>
      <p:sp>
        <p:nvSpPr>
          <p:cNvPr id="12" name="Text 6"/>
          <p:cNvSpPr/>
          <p:nvPr/>
        </p:nvSpPr>
        <p:spPr>
          <a:xfrm>
            <a:off x="457200" y="3654586"/>
            <a:ext cx="611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69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939515" y="3573919"/>
            <a:ext cx="925227" cy="279206"/>
          </a:xfrm>
          <a:prstGeom prst="roundRect">
            <a:avLst>
              <a:gd name="adj" fmla="val 3408048"/>
            </a:avLst>
          </a:prstGeom>
          <a:solidFill>
            <a:srgbClr val="E8F0F8">
              <a:alpha val="6000"/>
            </a:srgbClr>
          </a:solidFill>
          <a:ln w="7144">
            <a:solidFill>
              <a:srgbClr val="7A9B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217739" y="3658158"/>
            <a:ext cx="704535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data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1060958" y="36563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125" dirty="0"/>
          </a:p>
        </p:txBody>
      </p:sp>
      <p:sp>
        <p:nvSpPr>
          <p:cNvPr id="16" name="Text 10"/>
          <p:cNvSpPr/>
          <p:nvPr/>
        </p:nvSpPr>
        <p:spPr>
          <a:xfrm>
            <a:off x="1950467" y="3573919"/>
            <a:ext cx="899443" cy="279206"/>
          </a:xfrm>
          <a:prstGeom prst="roundRect">
            <a:avLst>
              <a:gd name="adj" fmla="val 3408048"/>
            </a:avLst>
          </a:prstGeom>
          <a:solidFill>
            <a:srgbClr val="E8F0F8">
              <a:alpha val="6000"/>
            </a:srgbClr>
          </a:solidFill>
          <a:ln w="7144">
            <a:solidFill>
              <a:srgbClr val="7A9B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2243361" y="3658158"/>
            <a:ext cx="64941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Home fiber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2071911" y="36563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19" name="Text 13"/>
          <p:cNvSpPr/>
          <p:nvPr/>
        </p:nvSpPr>
        <p:spPr>
          <a:xfrm>
            <a:off x="2935635" y="3573919"/>
            <a:ext cx="914065" cy="279206"/>
          </a:xfrm>
          <a:prstGeom prst="roundRect">
            <a:avLst>
              <a:gd name="adj" fmla="val 3408048"/>
            </a:avLst>
          </a:prstGeom>
          <a:solidFill>
            <a:srgbClr val="E8F0F8">
              <a:alpha val="6000"/>
            </a:srgbClr>
          </a:solidFill>
          <a:ln w="7144">
            <a:solidFill>
              <a:srgbClr val="7A9B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196289" y="3658158"/>
            <a:ext cx="728513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WiFi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3057079" y="36563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3935425" y="3573919"/>
            <a:ext cx="770520" cy="279206"/>
          </a:xfrm>
          <a:prstGeom prst="roundRect">
            <a:avLst>
              <a:gd name="adj" fmla="val 3408048"/>
            </a:avLst>
          </a:prstGeom>
          <a:solidFill>
            <a:srgbClr val="E8F0F8">
              <a:alpha val="6000"/>
            </a:srgbClr>
          </a:solidFill>
          <a:ln w="7144">
            <a:solidFill>
              <a:srgbClr val="7A9B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228319" y="3658158"/>
            <a:ext cx="194388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Satellite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056869" y="36563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457200" y="4697016"/>
            <a:ext cx="22401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CONCEPT STAGE - PRE-SEED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2128391" y="474166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7A9BB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2256979" y="4697016"/>
            <a:ext cx="7309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NAIROBI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2813856" y="474166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7A9BB8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2942444" y="4697016"/>
            <a:ext cx="18789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1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DISHYLINK-DERIVED, OSS CORE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64366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39366"/>
            <a:ext cx="5086417" cy="68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2138" b="1" spc="-56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Connectivity is a portfolio.</a:t>
            </a:r>
            <a:endParaRPr lang="en-US" sz="2138" dirty="0"/>
          </a:p>
          <a:p>
            <a:pPr algn="l" indent="0" marL="0">
              <a:lnSpc>
                <a:spcPts val="2480"/>
              </a:lnSpc>
              <a:buNone/>
            </a:pPr>
            <a:r>
              <a:rPr lang="en-US" sz="2138" b="1" spc="-56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Nobody is keeping score.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1397719"/>
            <a:ext cx="457200" cy="21431"/>
          </a:xfrm>
          <a:prstGeom prst="roundRect">
            <a:avLst>
              <a:gd name="adj" fmla="val 88890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33451"/>
            <a:ext cx="4624015" cy="76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872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typical East African household juggles Safaricom bundles, home fiber from Zuku, Faiba, Airtel or Poa, public WiFi and mobile money receipts - each with its own price per GB, expiry clock and failure mode. The information lives in transient SMS, USSD menus and rival carrier apps.</a:t>
            </a:r>
            <a:endParaRPr lang="en-US" sz="872" dirty="0"/>
          </a:p>
        </p:txBody>
      </p:sp>
      <p:sp>
        <p:nvSpPr>
          <p:cNvPr id="6" name="Text 4"/>
          <p:cNvSpPr/>
          <p:nvPr/>
        </p:nvSpPr>
        <p:spPr>
          <a:xfrm>
            <a:off x="460772" y="2402756"/>
            <a:ext cx="4616872" cy="553641"/>
          </a:xfrm>
          <a:prstGeom prst="roundRect">
            <a:avLst>
              <a:gd name="adj" fmla="val 240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931" y="251348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7043" y="254759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477" dirty="0"/>
          </a:p>
        </p:txBody>
      </p:sp>
      <p:sp>
        <p:nvSpPr>
          <p:cNvPr id="9" name="Text 7"/>
          <p:cNvSpPr/>
          <p:nvPr/>
        </p:nvSpPr>
        <p:spPr>
          <a:xfrm>
            <a:off x="978694" y="2513484"/>
            <a:ext cx="2803124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Invisible spend</a:t>
            </a:r>
            <a:endParaRPr lang="en-US" sz="872" dirty="0"/>
          </a:p>
        </p:txBody>
      </p:sp>
      <p:sp>
        <p:nvSpPr>
          <p:cNvPr id="10" name="Text 8"/>
          <p:cNvSpPr/>
          <p:nvPr/>
        </p:nvSpPr>
        <p:spPr>
          <a:xfrm>
            <a:off x="978694" y="2701007"/>
            <a:ext cx="2669642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bundle purchases vanish into SMS; monthly total is guesswork</a:t>
            </a:r>
            <a:endParaRPr lang="en-US" sz="759" dirty="0"/>
          </a:p>
        </p:txBody>
      </p:sp>
      <p:sp>
        <p:nvSpPr>
          <p:cNvPr id="11" name="Text 9"/>
          <p:cNvSpPr/>
          <p:nvPr/>
        </p:nvSpPr>
        <p:spPr>
          <a:xfrm>
            <a:off x="460772" y="3056409"/>
            <a:ext cx="4616872" cy="553641"/>
          </a:xfrm>
          <a:prstGeom prst="roundRect">
            <a:avLst>
              <a:gd name="adj" fmla="val 240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2931" y="316713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7043" y="3201248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77" dirty="0"/>
          </a:p>
        </p:txBody>
      </p:sp>
      <p:sp>
        <p:nvSpPr>
          <p:cNvPr id="14" name="Text 12"/>
          <p:cNvSpPr/>
          <p:nvPr/>
        </p:nvSpPr>
        <p:spPr>
          <a:xfrm>
            <a:off x="978694" y="3167137"/>
            <a:ext cx="3101872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Unprovable quality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978694" y="3354660"/>
            <a:ext cx="2954164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outages leave no evidence, so refunds and SLA credits go unclaimed</a:t>
            </a:r>
            <a:endParaRPr lang="en-US" sz="759" dirty="0"/>
          </a:p>
        </p:txBody>
      </p:sp>
      <p:sp>
        <p:nvSpPr>
          <p:cNvPr id="16" name="Text 14"/>
          <p:cNvSpPr/>
          <p:nvPr/>
        </p:nvSpPr>
        <p:spPr>
          <a:xfrm>
            <a:off x="460772" y="3710062"/>
            <a:ext cx="4616872" cy="698302"/>
          </a:xfrm>
          <a:prstGeom prst="roundRect">
            <a:avLst>
              <a:gd name="adj" fmla="val 1909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2931" y="382079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7043" y="3854901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77" dirty="0"/>
          </a:p>
        </p:txBody>
      </p:sp>
      <p:sp>
        <p:nvSpPr>
          <p:cNvPr id="19" name="Text 17"/>
          <p:cNvSpPr/>
          <p:nvPr/>
        </p:nvSpPr>
        <p:spPr>
          <a:xfrm>
            <a:off x="978694" y="3820790"/>
            <a:ext cx="3966790" cy="1600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Blind switching</a:t>
            </a:r>
            <a:endParaRPr lang="en-US" sz="872" dirty="0"/>
          </a:p>
        </p:txBody>
      </p:sp>
      <p:sp>
        <p:nvSpPr>
          <p:cNvPr id="20" name="Text 18"/>
          <p:cNvSpPr/>
          <p:nvPr/>
        </p:nvSpPr>
        <p:spPr>
          <a:xfrm>
            <a:off x="978694" y="4008313"/>
            <a:ext cx="396679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Airtel enters fixed from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1,999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Zuku discounts prepaid, Starlink shakes pricing - and users decide on rumor</a:t>
            </a:r>
            <a:endParaRPr lang="en-US" sz="800" dirty="0"/>
          </a:p>
        </p:txBody>
      </p:sp>
      <p:pic>
        <p:nvPicPr>
          <p:cNvPr id="21" name="Image 0" descr="/tmp/h2p-fit-1791073885687-7oyag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8390" y="400050"/>
            <a:ext cx="3348410" cy="434340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390" y="3814763"/>
            <a:ext cx="3348410" cy="9286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56262" y="4407694"/>
            <a:ext cx="2366702" cy="217884"/>
          </a:xfrm>
          <a:prstGeom prst="roundRect">
            <a:avLst>
              <a:gd name="adj" fmla="val 436722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28600" dist="95250" dir="5400000">
              <a:srgbClr val="0A254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717009" y="4461272"/>
            <a:ext cx="2002371" cy="126609"/>
          </a:xfrm>
          <a:prstGeom prst="rect">
            <a:avLst/>
          </a:prstGeom>
          <a:noFill/>
          <a:ln/>
        </p:spPr>
        <p:txBody>
          <a:bodyPr wrap="square" lIns="100013" tIns="35719" rIns="100013" bIns="35719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 truth arrives as SMS - then disappears</a:t>
            </a:r>
            <a:endParaRPr lang="en-US" sz="731" dirty="0"/>
          </a:p>
        </p:txBody>
      </p:sp>
      <p:sp>
        <p:nvSpPr>
          <p:cNvPr id="25" name="Text 21"/>
          <p:cNvSpPr/>
          <p:nvPr/>
        </p:nvSpPr>
        <p:spPr>
          <a:xfrm>
            <a:off x="5559847" y="44594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1073885440-blfu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00050"/>
            <a:ext cx="3348410" cy="434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5072" y="517922"/>
            <a:ext cx="2129172" cy="217884"/>
          </a:xfrm>
          <a:prstGeom prst="roundRect">
            <a:avLst>
              <a:gd name="adj" fmla="val 436722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  <a:effectLst>
            <a:outerShdw sx="100000" sy="100000" kx="0" ky="0" algn="bl" rotWithShape="0" blurRad="228600" dist="95250" dir="5400000">
              <a:srgbClr val="0A254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5819" y="571500"/>
            <a:ext cx="1764841" cy="126609"/>
          </a:xfrm>
          <a:prstGeom prst="rect">
            <a:avLst/>
          </a:prstGeom>
          <a:noFill/>
          <a:ln/>
        </p:spPr>
        <p:txBody>
          <a:bodyPr wrap="square" lIns="100013" tIns="35719" rIns="100013" bIns="35719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Dishylink: open-source Starlink monitor</a:t>
            </a:r>
            <a:endParaRPr lang="en-US" sz="731" dirty="0"/>
          </a:p>
        </p:txBody>
      </p:sp>
      <p:sp>
        <p:nvSpPr>
          <p:cNvPr id="5" name="Text 2"/>
          <p:cNvSpPr/>
          <p:nvPr/>
        </p:nvSpPr>
        <p:spPr>
          <a:xfrm>
            <a:off x="678656" y="56971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062785" y="400050"/>
            <a:ext cx="508121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ORIGIN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062785" y="639366"/>
            <a:ext cx="4624015" cy="63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3"/>
              </a:lnSpc>
              <a:buNone/>
            </a:pPr>
            <a:r>
              <a:rPr lang="en-US" sz="1969" b="1" spc="-45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pattern is proven. </a:t>
            </a:r>
            <a:pPr algn="l" indent="0" marL="0">
              <a:lnSpc>
                <a:spcPts val="2323"/>
              </a:lnSpc>
              <a:buNone/>
            </a:pPr>
            <a:r>
              <a:rPr lang="en-US" sz="1969" b="1" spc="-45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market is not satellite-shaped.</a:t>
            </a:r>
            <a:endParaRPr lang="en-US" sz="1969" dirty="0"/>
          </a:p>
        </p:txBody>
      </p:sp>
      <p:sp>
        <p:nvSpPr>
          <p:cNvPr id="8" name="Text 5"/>
          <p:cNvSpPr/>
          <p:nvPr/>
        </p:nvSpPr>
        <p:spPr>
          <a:xfrm>
            <a:off x="4062785" y="1336551"/>
            <a:ext cx="462401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Dishylink reads the connection directly on-device, keeps history honest, works during outages and links an account only if the user opts in. It earns trust by keeping data local - the same posture consumers need across every East African operator.</a:t>
            </a:r>
            <a:endParaRPr lang="en-US" sz="844" dirty="0"/>
          </a:p>
        </p:txBody>
      </p:sp>
      <p:sp>
        <p:nvSpPr>
          <p:cNvPr id="9" name="Text 6"/>
          <p:cNvSpPr/>
          <p:nvPr/>
        </p:nvSpPr>
        <p:spPr>
          <a:xfrm>
            <a:off x="4062785" y="2043782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94931" y="207592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4434260" y="2118680"/>
            <a:ext cx="1323480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Local-first measurement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5637423" y="2118680"/>
            <a:ext cx="2008617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works when the vendor cloud does not</a:t>
            </a:r>
            <a:endParaRPr lang="en-US" sz="816" dirty="0"/>
          </a:p>
        </p:txBody>
      </p:sp>
      <p:sp>
        <p:nvSpPr>
          <p:cNvPr id="13" name="Shape 10"/>
          <p:cNvSpPr/>
          <p:nvPr/>
        </p:nvSpPr>
        <p:spPr>
          <a:xfrm>
            <a:off x="4062785" y="2397398"/>
            <a:ext cx="4624015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2785" y="2479551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94931" y="251169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16" name="Text 13"/>
          <p:cNvSpPr/>
          <p:nvPr/>
        </p:nvSpPr>
        <p:spPr>
          <a:xfrm>
            <a:off x="4434260" y="2554449"/>
            <a:ext cx="1140619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 as a feature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5407484" y="2554449"/>
            <a:ext cx="185732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no account, no telemetry, by design</a:t>
            </a:r>
            <a:endParaRPr lang="en-US" sz="816" dirty="0"/>
          </a:p>
        </p:txBody>
      </p:sp>
      <p:sp>
        <p:nvSpPr>
          <p:cNvPr id="18" name="Shape 15"/>
          <p:cNvSpPr/>
          <p:nvPr/>
        </p:nvSpPr>
        <p:spPr>
          <a:xfrm>
            <a:off x="4062785" y="2833167"/>
            <a:ext cx="4624015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62785" y="2915320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094931" y="294746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4434260" y="2990217"/>
            <a:ext cx="164117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 context multiplies value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953869" y="2990217"/>
            <a:ext cx="2183054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optional account link adds plan and spend</a:t>
            </a:r>
            <a:endParaRPr lang="en-US" sz="816" dirty="0"/>
          </a:p>
        </p:txBody>
      </p:sp>
      <p:sp>
        <p:nvSpPr>
          <p:cNvPr id="23" name="Shape 20"/>
          <p:cNvSpPr/>
          <p:nvPr/>
        </p:nvSpPr>
        <p:spPr>
          <a:xfrm>
            <a:off x="4062785" y="3268935"/>
            <a:ext cx="4624015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62785" y="3351088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94931" y="338323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4434260" y="3425986"/>
            <a:ext cx="95773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OSS distribution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5251438" y="3425986"/>
            <a:ext cx="2250683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MIT-licensed core turns users into installers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4062785" y="4379007"/>
            <a:ext cx="4624015" cy="364443"/>
          </a:xfrm>
          <a:prstGeom prst="roundRect">
            <a:avLst>
              <a:gd name="adj" fmla="val 36590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205660" y="448973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406" dirty="0"/>
          </a:p>
        </p:txBody>
      </p:sp>
      <p:sp>
        <p:nvSpPr>
          <p:cNvPr id="30" name="Text 27"/>
          <p:cNvSpPr/>
          <p:nvPr/>
        </p:nvSpPr>
        <p:spPr>
          <a:xfrm>
            <a:off x="4434260" y="4486163"/>
            <a:ext cx="4109665" cy="15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Generalize:</a:t>
            </a:r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Starlink dish </a:t>
            </a:r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pPr algn="l" indent="0" marL="0">
              <a:lnSpc>
                <a:spcPts val="1183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every ISP, every bundle, every shilling.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" y="625078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9"/>
              </a:lnSpc>
              <a:buNone/>
            </a:pPr>
            <a:r>
              <a:rPr lang="en-US" sz="2363" b="1" spc="-67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PWA. Three pillars. </a:t>
            </a:r>
            <a:pPr algn="ctr" indent="0" marL="0">
              <a:lnSpc>
                <a:spcPts val="2599"/>
              </a:lnSpc>
              <a:buNone/>
            </a:pPr>
            <a:r>
              <a:rPr lang="en-US" sz="2363" b="1" spc="-67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forced cloud.</a:t>
            </a:r>
            <a:endParaRPr lang="en-US" sz="2363" dirty="0"/>
          </a:p>
        </p:txBody>
      </p:sp>
      <p:sp>
        <p:nvSpPr>
          <p:cNvPr id="4" name="Text 2"/>
          <p:cNvSpPr/>
          <p:nvPr/>
        </p:nvSpPr>
        <p:spPr>
          <a:xfrm>
            <a:off x="457200" y="1040755"/>
            <a:ext cx="82296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Installable progressive web app - runs in the browser, installs on Android home screens, history stored locally in IndexedDB.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1390799"/>
            <a:ext cx="2621756" cy="2777579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344" y="1394371"/>
            <a:ext cx="2614613" cy="28575"/>
          </a:xfrm>
          <a:prstGeom prst="rect">
            <a:avLst/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11211" y="1494383"/>
            <a:ext cx="880807" cy="52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825" b="1" dirty="0">
                <a:solidFill>
                  <a:srgbClr val="C0D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825" dirty="0"/>
          </a:p>
        </p:txBody>
      </p:sp>
      <p:sp>
        <p:nvSpPr>
          <p:cNvPr id="8" name="Text 6"/>
          <p:cNvSpPr/>
          <p:nvPr/>
        </p:nvSpPr>
        <p:spPr>
          <a:xfrm>
            <a:off x="635794" y="158010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728" y="162404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28" dirty="0"/>
          </a:p>
        </p:txBody>
      </p:sp>
      <p:sp>
        <p:nvSpPr>
          <p:cNvPr id="10" name="Text 8"/>
          <p:cNvSpPr/>
          <p:nvPr/>
        </p:nvSpPr>
        <p:spPr>
          <a:xfrm>
            <a:off x="635794" y="2065883"/>
            <a:ext cx="227171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41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635794" y="2340918"/>
            <a:ext cx="257175" cy="21431"/>
          </a:xfrm>
          <a:prstGeom prst="roundRect">
            <a:avLst>
              <a:gd name="adj" fmla="val 88890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448074"/>
            <a:ext cx="2271713" cy="72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 and throughput probes, online/offline event log, on-demand speed tests, per-device usage - the honest stat tiles Dishylink popularized, across every network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3261122" y="1390799"/>
            <a:ext cx="2621756" cy="2777579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64694" y="1394371"/>
            <a:ext cx="2614613" cy="28575"/>
          </a:xfrm>
          <a:prstGeom prst="rect">
            <a:avLst/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11561" y="1494383"/>
            <a:ext cx="880807" cy="52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825" b="1" dirty="0">
                <a:solidFill>
                  <a:srgbClr val="C0D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825" dirty="0"/>
          </a:p>
        </p:txBody>
      </p:sp>
      <p:sp>
        <p:nvSpPr>
          <p:cNvPr id="16" name="Text 14"/>
          <p:cNvSpPr/>
          <p:nvPr/>
        </p:nvSpPr>
        <p:spPr>
          <a:xfrm>
            <a:off x="3436144" y="158010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80078" y="162404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828" dirty="0"/>
          </a:p>
        </p:txBody>
      </p:sp>
      <p:sp>
        <p:nvSpPr>
          <p:cNvPr id="18" name="Text 16"/>
          <p:cNvSpPr/>
          <p:nvPr/>
        </p:nvSpPr>
        <p:spPr>
          <a:xfrm>
            <a:off x="3436144" y="2065883"/>
            <a:ext cx="227171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41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3436144" y="2340918"/>
            <a:ext cx="257175" cy="21431"/>
          </a:xfrm>
          <a:prstGeom prst="roundRect">
            <a:avLst>
              <a:gd name="adj" fmla="val 88890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36144" y="2448074"/>
            <a:ext cx="2271713" cy="72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 SMS parsing, M-Pesa statement import, cost per GB per network, bundle expiry alerts - one monthly connectivity bill no carrier app will ever show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6061472" y="1390799"/>
            <a:ext cx="2621756" cy="2777579"/>
          </a:xfrm>
          <a:prstGeom prst="roundRect">
            <a:avLst>
              <a:gd name="adj" fmla="val 50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65044" y="1394371"/>
            <a:ext cx="2614613" cy="28575"/>
          </a:xfrm>
          <a:prstGeom prst="rect">
            <a:avLst/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11911" y="1494383"/>
            <a:ext cx="880807" cy="52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3825" b="1" dirty="0">
                <a:solidFill>
                  <a:srgbClr val="C0D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825" dirty="0"/>
          </a:p>
        </p:txBody>
      </p:sp>
      <p:sp>
        <p:nvSpPr>
          <p:cNvPr id="24" name="Text 22"/>
          <p:cNvSpPr/>
          <p:nvPr/>
        </p:nvSpPr>
        <p:spPr>
          <a:xfrm>
            <a:off x="6236494" y="1580108"/>
            <a:ext cx="357188" cy="357188"/>
          </a:xfrm>
          <a:prstGeom prst="roundRect">
            <a:avLst>
              <a:gd name="adj" fmla="val 32000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0428" y="162404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828" dirty="0"/>
          </a:p>
        </p:txBody>
      </p:sp>
      <p:sp>
        <p:nvSpPr>
          <p:cNvPr id="26" name="Text 24"/>
          <p:cNvSpPr/>
          <p:nvPr/>
        </p:nvSpPr>
        <p:spPr>
          <a:xfrm>
            <a:off x="6236494" y="2065883"/>
            <a:ext cx="2271713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141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</a:t>
            </a:r>
            <a:endParaRPr lang="en-US" sz="1069" dirty="0"/>
          </a:p>
        </p:txBody>
      </p:sp>
      <p:sp>
        <p:nvSpPr>
          <p:cNvPr id="27" name="Text 25"/>
          <p:cNvSpPr/>
          <p:nvPr/>
        </p:nvSpPr>
        <p:spPr>
          <a:xfrm>
            <a:off x="6236494" y="2340918"/>
            <a:ext cx="257175" cy="21431"/>
          </a:xfrm>
          <a:prstGeom prst="roundRect">
            <a:avLst>
              <a:gd name="adj" fmla="val 88890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36494" y="2448074"/>
            <a:ext cx="2271713" cy="72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Timestamped outage evidence for refunds, switching advisor ranking real-world quality and cost, in-app bundle purchase via mobile money rails</a:t>
            </a:r>
            <a:endParaRPr lang="en-US" sz="816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8229600" cy="400050"/>
          </a:xfrm>
          <a:prstGeom prst="roundRect">
            <a:avLst>
              <a:gd name="adj" fmla="val 33333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5581" y="446484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1" name="Text 29"/>
          <p:cNvSpPr/>
          <p:nvPr/>
        </p:nvSpPr>
        <p:spPr>
          <a:xfrm>
            <a:off x="2388468" y="4465737"/>
            <a:ext cx="6098307" cy="15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Privacy-first: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raw SMS stays on-device. Cloud sync and QoS-map contribution are strictly opt-in.</a:t>
            </a:r>
            <a:endParaRPr lang="en-US" sz="8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3" y="-1071562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-1071562"/>
            <a:ext cx="3571875" cy="3571875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55414"/>
            <a:ext cx="242888" cy="28575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5813" y="40005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10791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4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engineering: three tiers, each valuable alone.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460772" y="1067209"/>
            <a:ext cx="6136481" cy="1143223"/>
          </a:xfrm>
          <a:prstGeom prst="roundRect">
            <a:avLst>
              <a:gd name="adj" fmla="val 11664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4344" y="1070781"/>
            <a:ext cx="628650" cy="1136079"/>
          </a:xfrm>
          <a:prstGeom prst="rect">
            <a:avLst/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1578" y="1443819"/>
            <a:ext cx="374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4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7120" y="1550975"/>
            <a:ext cx="228957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1250156" y="1405756"/>
            <a:ext cx="145944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Browser core (PWA)</a:t>
            </a:r>
            <a:endParaRPr lang="en-US" sz="956" dirty="0"/>
          </a:p>
        </p:txBody>
      </p:sp>
      <p:sp>
        <p:nvSpPr>
          <p:cNvPr id="12" name="Text 9"/>
          <p:cNvSpPr/>
          <p:nvPr/>
        </p:nvSpPr>
        <p:spPr>
          <a:xfrm>
            <a:off x="2489150" y="1403827"/>
            <a:ext cx="349486" cy="186023"/>
          </a:xfrm>
          <a:prstGeom prst="roundRect">
            <a:avLst>
              <a:gd name="adj" fmla="val 511521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89150" y="1413793"/>
            <a:ext cx="34948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MVP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45423" y="1439019"/>
            <a:ext cx="1178384" cy="124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sensitive permissions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53728" y="1670075"/>
            <a:ext cx="1431094" cy="198239"/>
          </a:xfrm>
          <a:prstGeom prst="roundRect">
            <a:avLst>
              <a:gd name="adj" fmla="val 4800002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485900" y="1716509"/>
            <a:ext cx="1231069" cy="122895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 + throughput probes</a:t>
            </a:r>
            <a:endParaRPr lang="en-US" sz="703" dirty="0"/>
          </a:p>
        </p:txBody>
      </p:sp>
      <p:sp>
        <p:nvSpPr>
          <p:cNvPr id="17" name="Text 14"/>
          <p:cNvSpPr/>
          <p:nvPr/>
        </p:nvSpPr>
        <p:spPr>
          <a:xfrm>
            <a:off x="1343025" y="17191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8" name="Text 15"/>
          <p:cNvSpPr/>
          <p:nvPr/>
        </p:nvSpPr>
        <p:spPr>
          <a:xfrm>
            <a:off x="2745544" y="1654180"/>
            <a:ext cx="972443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981288" y="1716509"/>
            <a:ext cx="765274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online/offline log</a:t>
            </a:r>
            <a:endParaRPr lang="en-US" sz="703" dirty="0"/>
          </a:p>
        </p:txBody>
      </p:sp>
      <p:sp>
        <p:nvSpPr>
          <p:cNvPr id="20" name="Text 17"/>
          <p:cNvSpPr/>
          <p:nvPr/>
        </p:nvSpPr>
        <p:spPr>
          <a:xfrm>
            <a:off x="2838413" y="17191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1" name="Text 18"/>
          <p:cNvSpPr/>
          <p:nvPr/>
        </p:nvSpPr>
        <p:spPr>
          <a:xfrm>
            <a:off x="3778709" y="1670075"/>
            <a:ext cx="1333984" cy="198239"/>
          </a:xfrm>
          <a:prstGeom prst="roundRect">
            <a:avLst>
              <a:gd name="adj" fmla="val 4800002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10881" y="1716509"/>
            <a:ext cx="1133959" cy="122895"/>
          </a:xfrm>
          <a:prstGeom prst="rect">
            <a:avLst/>
          </a:prstGeom>
          <a:noFill/>
          <a:ln/>
        </p:spPr>
        <p:txBody>
          <a:bodyPr wrap="none" lIns="85725" tIns="28575" rIns="85725" bIns="28575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Information hints</a:t>
            </a:r>
            <a:endParaRPr lang="en-US" sz="703" dirty="0"/>
          </a:p>
        </p:txBody>
      </p:sp>
      <p:sp>
        <p:nvSpPr>
          <p:cNvPr id="23" name="Text 20"/>
          <p:cNvSpPr/>
          <p:nvPr/>
        </p:nvSpPr>
        <p:spPr>
          <a:xfrm>
            <a:off x="3868006" y="17191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4" name="Text 21"/>
          <p:cNvSpPr/>
          <p:nvPr/>
        </p:nvSpPr>
        <p:spPr>
          <a:xfrm>
            <a:off x="5173414" y="1654180"/>
            <a:ext cx="1112974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409158" y="1716509"/>
            <a:ext cx="1027361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manual spend entry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266283" y="17191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7" name="Text 24"/>
          <p:cNvSpPr/>
          <p:nvPr/>
        </p:nvSpPr>
        <p:spPr>
          <a:xfrm>
            <a:off x="460772" y="2331876"/>
            <a:ext cx="6136481" cy="1143335"/>
          </a:xfrm>
          <a:prstGeom prst="roundRect">
            <a:avLst>
              <a:gd name="adj" fmla="val 116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64344" y="2335448"/>
            <a:ext cx="628650" cy="1136191"/>
          </a:xfrm>
          <a:prstGeom prst="rect">
            <a:avLst/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61578" y="2708486"/>
            <a:ext cx="374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4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07120" y="2815642"/>
            <a:ext cx="228957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025" dirty="0"/>
          </a:p>
        </p:txBody>
      </p:sp>
      <p:sp>
        <p:nvSpPr>
          <p:cNvPr id="31" name="Text 28"/>
          <p:cNvSpPr/>
          <p:nvPr/>
        </p:nvSpPr>
        <p:spPr>
          <a:xfrm>
            <a:off x="1250156" y="2670423"/>
            <a:ext cx="149321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Installed intelligence</a:t>
            </a:r>
            <a:endParaRPr lang="en-US" sz="956" dirty="0"/>
          </a:p>
        </p:txBody>
      </p:sp>
      <p:sp>
        <p:nvSpPr>
          <p:cNvPr id="32" name="Text 29"/>
          <p:cNvSpPr/>
          <p:nvPr/>
        </p:nvSpPr>
        <p:spPr>
          <a:xfrm>
            <a:off x="2516163" y="2668494"/>
            <a:ext cx="1157399" cy="186023"/>
          </a:xfrm>
          <a:prstGeom prst="roundRect">
            <a:avLst>
              <a:gd name="adj" fmla="val 511521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516163" y="2678460"/>
            <a:ext cx="115739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Android companion shell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50581" y="2645866"/>
            <a:ext cx="1928813" cy="249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user-consented location + SMS permissions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250156" y="2943404"/>
            <a:ext cx="1048122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485900" y="3005733"/>
            <a:ext cx="840953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WiFi SSID identity</a:t>
            </a:r>
            <a:endParaRPr lang="en-US" sz="703" dirty="0"/>
          </a:p>
        </p:txBody>
      </p:sp>
      <p:sp>
        <p:nvSpPr>
          <p:cNvPr id="37" name="Text 34"/>
          <p:cNvSpPr/>
          <p:nvPr/>
        </p:nvSpPr>
        <p:spPr>
          <a:xfrm>
            <a:off x="1343025" y="30084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8" name="Text 35"/>
          <p:cNvSpPr/>
          <p:nvPr/>
        </p:nvSpPr>
        <p:spPr>
          <a:xfrm>
            <a:off x="2355428" y="2943404"/>
            <a:ext cx="1092994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591172" y="3005733"/>
            <a:ext cx="885825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 SMS parsing</a:t>
            </a:r>
            <a:endParaRPr lang="en-US" sz="703" dirty="0"/>
          </a:p>
        </p:txBody>
      </p:sp>
      <p:sp>
        <p:nvSpPr>
          <p:cNvPr id="40" name="Text 37"/>
          <p:cNvSpPr/>
          <p:nvPr/>
        </p:nvSpPr>
        <p:spPr>
          <a:xfrm>
            <a:off x="2448297" y="30084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1" name="Text 38"/>
          <p:cNvSpPr/>
          <p:nvPr/>
        </p:nvSpPr>
        <p:spPr>
          <a:xfrm>
            <a:off x="3505572" y="2943404"/>
            <a:ext cx="1326170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741316" y="3005733"/>
            <a:ext cx="1119001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M-Pesa statement import</a:t>
            </a:r>
            <a:endParaRPr lang="en-US" sz="703" dirty="0"/>
          </a:p>
        </p:txBody>
      </p:sp>
      <p:sp>
        <p:nvSpPr>
          <p:cNvPr id="43" name="Text 40"/>
          <p:cNvSpPr/>
          <p:nvPr/>
        </p:nvSpPr>
        <p:spPr>
          <a:xfrm>
            <a:off x="3598441" y="30084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4" name="Text 41"/>
          <p:cNvSpPr/>
          <p:nvPr/>
        </p:nvSpPr>
        <p:spPr>
          <a:xfrm>
            <a:off x="4888892" y="2943404"/>
            <a:ext cx="810034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5124636" y="3005733"/>
            <a:ext cx="1311883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expiry alerts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981761" y="300841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7" name="Text 44"/>
          <p:cNvSpPr/>
          <p:nvPr/>
        </p:nvSpPr>
        <p:spPr>
          <a:xfrm>
            <a:off x="460772" y="3596655"/>
            <a:ext cx="6136481" cy="1143223"/>
          </a:xfrm>
          <a:prstGeom prst="roundRect">
            <a:avLst>
              <a:gd name="adj" fmla="val 11664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64344" y="3600227"/>
            <a:ext cx="628650" cy="1136079"/>
          </a:xfrm>
          <a:prstGeom prst="rect">
            <a:avLst/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61578" y="3973264"/>
            <a:ext cx="37469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41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07120" y="4080421"/>
            <a:ext cx="228957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2025" dirty="0"/>
          </a:p>
        </p:txBody>
      </p:sp>
      <p:sp>
        <p:nvSpPr>
          <p:cNvPr id="51" name="Text 48"/>
          <p:cNvSpPr/>
          <p:nvPr/>
        </p:nvSpPr>
        <p:spPr>
          <a:xfrm>
            <a:off x="1250156" y="3935202"/>
            <a:ext cx="105426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depth</a:t>
            </a:r>
            <a:endParaRPr lang="en-US" sz="956" dirty="0"/>
          </a:p>
        </p:txBody>
      </p:sp>
      <p:sp>
        <p:nvSpPr>
          <p:cNvPr id="52" name="Text 49"/>
          <p:cNvSpPr/>
          <p:nvPr/>
        </p:nvSpPr>
        <p:spPr>
          <a:xfrm>
            <a:off x="2165003" y="3933273"/>
            <a:ext cx="655439" cy="186023"/>
          </a:xfrm>
          <a:prstGeom prst="roundRect">
            <a:avLst>
              <a:gd name="adj" fmla="val 511521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2132662" y="3943238"/>
            <a:ext cx="72012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months 7-18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654600" y="3968465"/>
            <a:ext cx="1924473" cy="124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estate-level rankings, market-grade corpus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1250156" y="4183626"/>
            <a:ext cx="1177379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1485900" y="4245955"/>
            <a:ext cx="970211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encrypted opt-in sync</a:t>
            </a:r>
            <a:endParaRPr lang="en-US" sz="703" dirty="0"/>
          </a:p>
        </p:txBody>
      </p:sp>
      <p:sp>
        <p:nvSpPr>
          <p:cNvPr id="57" name="Text 54"/>
          <p:cNvSpPr/>
          <p:nvPr/>
        </p:nvSpPr>
        <p:spPr>
          <a:xfrm>
            <a:off x="1343025" y="42486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8" name="Text 55"/>
          <p:cNvSpPr/>
          <p:nvPr/>
        </p:nvSpPr>
        <p:spPr>
          <a:xfrm>
            <a:off x="2484686" y="4183626"/>
            <a:ext cx="1212205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2720429" y="4245955"/>
            <a:ext cx="1005036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anonymized QoS map</a:t>
            </a:r>
            <a:endParaRPr lang="en-US" sz="703" dirty="0"/>
          </a:p>
        </p:txBody>
      </p:sp>
      <p:sp>
        <p:nvSpPr>
          <p:cNvPr id="60" name="Text 57"/>
          <p:cNvSpPr/>
          <p:nvPr/>
        </p:nvSpPr>
        <p:spPr>
          <a:xfrm>
            <a:off x="2577554" y="42486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1" name="Text 58"/>
          <p:cNvSpPr/>
          <p:nvPr/>
        </p:nvSpPr>
        <p:spPr>
          <a:xfrm>
            <a:off x="3754041" y="4183626"/>
            <a:ext cx="1299828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3989784" y="4245955"/>
            <a:ext cx="1092659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ISP adapters</a:t>
            </a:r>
            <a:endParaRPr lang="en-US" sz="703" dirty="0"/>
          </a:p>
        </p:txBody>
      </p:sp>
      <p:sp>
        <p:nvSpPr>
          <p:cNvPr id="63" name="Text 60"/>
          <p:cNvSpPr/>
          <p:nvPr/>
        </p:nvSpPr>
        <p:spPr>
          <a:xfrm>
            <a:off x="3846909" y="42486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4" name="Text 61"/>
          <p:cNvSpPr/>
          <p:nvPr/>
        </p:nvSpPr>
        <p:spPr>
          <a:xfrm>
            <a:off x="5111018" y="4183626"/>
            <a:ext cx="1190662" cy="230029"/>
          </a:xfrm>
          <a:prstGeom prst="roundRect">
            <a:avLst>
              <a:gd name="adj" fmla="val 413664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346762" y="4245955"/>
            <a:ext cx="1089757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OpenWrt router agent</a:t>
            </a:r>
            <a:endParaRPr lang="en-US" sz="703" dirty="0"/>
          </a:p>
        </p:txBody>
      </p:sp>
      <p:sp>
        <p:nvSpPr>
          <p:cNvPr id="66" name="Text 63"/>
          <p:cNvSpPr/>
          <p:nvPr/>
        </p:nvSpPr>
        <p:spPr>
          <a:xfrm>
            <a:off x="5203887" y="42486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67" name="Text 64"/>
          <p:cNvSpPr/>
          <p:nvPr/>
        </p:nvSpPr>
        <p:spPr>
          <a:xfrm>
            <a:off x="6775847" y="1067209"/>
            <a:ext cx="1907381" cy="3672669"/>
          </a:xfrm>
          <a:prstGeom prst="roundRect">
            <a:avLst>
              <a:gd name="adj" fmla="val 6991"/>
            </a:avLst>
          </a:prstGeom>
          <a:solidFill>
            <a:srgbClr val="EEF3FA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950869" y="1242231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2109" dirty="0"/>
          </a:p>
        </p:txBody>
      </p:sp>
      <p:sp>
        <p:nvSpPr>
          <p:cNvPr id="69" name="Text 66"/>
          <p:cNvSpPr/>
          <p:nvPr/>
        </p:nvSpPr>
        <p:spPr>
          <a:xfrm>
            <a:off x="6950869" y="1570844"/>
            <a:ext cx="457200" cy="21431"/>
          </a:xfrm>
          <a:prstGeom prst="roundRect">
            <a:avLst>
              <a:gd name="adj" fmla="val 88890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950869" y="1706575"/>
            <a:ext cx="1557338" cy="751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816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Adapter registry is community-owned and versioned - parsing fragility is contained, permission drift is hedged by design.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7779544" y="3850481"/>
            <a:ext cx="1071563" cy="1071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4800" dirty="0"/>
          </a:p>
        </p:txBody>
      </p:sp>
      <p:sp>
        <p:nvSpPr>
          <p:cNvPr id="72" name="Text 69"/>
          <p:cNvSpPr/>
          <p:nvPr/>
        </p:nvSpPr>
        <p:spPr>
          <a:xfrm>
            <a:off x="6950869" y="4364831"/>
            <a:ext cx="200025" cy="200025"/>
          </a:xfrm>
          <a:prstGeom prst="roundRect">
            <a:avLst>
              <a:gd name="adj" fmla="val 42857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6950869" y="4364831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7222331" y="4364831"/>
            <a:ext cx="200025" cy="200025"/>
          </a:xfrm>
          <a:prstGeom prst="roundRect">
            <a:avLst>
              <a:gd name="adj" fmla="val 42857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7222331" y="4364831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7493794" y="4364831"/>
            <a:ext cx="200025" cy="200025"/>
          </a:xfrm>
          <a:prstGeom prst="roundRect">
            <a:avLst>
              <a:gd name="adj" fmla="val 4285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7493794" y="4364831"/>
            <a:ext cx="10144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3" y="-1071562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-1071562"/>
            <a:ext cx="3571875" cy="3571875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55414"/>
            <a:ext cx="242888" cy="28575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5813" y="40005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10791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4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hyper-competitive, mobile-money-native connectivity market.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460772" y="1036513"/>
            <a:ext cx="1964531" cy="850106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7219" y="1168673"/>
            <a:ext cx="1414463" cy="285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1"/>
              </a:lnSpc>
              <a:buNone/>
            </a:pPr>
            <a:r>
              <a:rPr lang="en-US" sz="2081" b="1" spc="-28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2.84M</a:t>
            </a:r>
            <a:endParaRPr lang="en-US" sz="2081" dirty="0"/>
          </a:p>
        </p:txBody>
      </p:sp>
      <p:sp>
        <p:nvSpPr>
          <p:cNvPr id="9" name="Text 6"/>
          <p:cNvSpPr/>
          <p:nvPr/>
        </p:nvSpPr>
        <p:spPr>
          <a:xfrm>
            <a:off x="2035969" y="1168673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59007" y="119171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336" dirty="0"/>
          </a:p>
        </p:txBody>
      </p:sp>
      <p:sp>
        <p:nvSpPr>
          <p:cNvPr id="11" name="Text 8"/>
          <p:cNvSpPr/>
          <p:nvPr/>
        </p:nvSpPr>
        <p:spPr>
          <a:xfrm>
            <a:off x="607219" y="1504429"/>
            <a:ext cx="167163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Kenya fixed internet subs, Jun 2026 (CA data)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46747" y="1036513"/>
            <a:ext cx="1964531" cy="850106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693194" y="1168673"/>
            <a:ext cx="1414463" cy="285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1"/>
              </a:lnSpc>
              <a:buNone/>
            </a:pPr>
            <a:r>
              <a:rPr lang="en-US" sz="2081" b="1" spc="-28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+32.4%</a:t>
            </a:r>
            <a:endParaRPr lang="en-US" sz="2081" dirty="0"/>
          </a:p>
        </p:txBody>
      </p:sp>
      <p:sp>
        <p:nvSpPr>
          <p:cNvPr id="14" name="Text 11"/>
          <p:cNvSpPr/>
          <p:nvPr/>
        </p:nvSpPr>
        <p:spPr>
          <a:xfrm>
            <a:off x="4121944" y="1168673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44982" y="119171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336" dirty="0"/>
          </a:p>
        </p:txBody>
      </p:sp>
      <p:sp>
        <p:nvSpPr>
          <p:cNvPr id="16" name="Text 13"/>
          <p:cNvSpPr/>
          <p:nvPr/>
        </p:nvSpPr>
        <p:spPr>
          <a:xfrm>
            <a:off x="2693194" y="1504429"/>
            <a:ext cx="1671637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fixed-market growth YoY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32722" y="1036513"/>
            <a:ext cx="1964531" cy="850106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79169" y="1168673"/>
            <a:ext cx="1414463" cy="285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1"/>
              </a:lnSpc>
              <a:buNone/>
            </a:pPr>
            <a:r>
              <a:rPr lang="en-US" sz="2081" b="1" spc="-28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37.9M</a:t>
            </a:r>
            <a:endParaRPr lang="en-US" sz="2081" dirty="0"/>
          </a:p>
        </p:txBody>
      </p:sp>
      <p:sp>
        <p:nvSpPr>
          <p:cNvPr id="19" name="Text 16"/>
          <p:cNvSpPr/>
          <p:nvPr/>
        </p:nvSpPr>
        <p:spPr>
          <a:xfrm>
            <a:off x="6207919" y="1168673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30957" y="119171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336" dirty="0"/>
          </a:p>
        </p:txBody>
      </p:sp>
      <p:sp>
        <p:nvSpPr>
          <p:cNvPr id="21" name="Text 18"/>
          <p:cNvSpPr/>
          <p:nvPr/>
        </p:nvSpPr>
        <p:spPr>
          <a:xfrm>
            <a:off x="4779169" y="1504429"/>
            <a:ext cx="177193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M-Pesa monthly active users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718697" y="1036513"/>
            <a:ext cx="1964531" cy="850106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65144" y="1168673"/>
            <a:ext cx="1414463" cy="285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1"/>
              </a:lnSpc>
              <a:buNone/>
            </a:pPr>
            <a:r>
              <a:rPr lang="en-US" sz="2081" b="1" spc="-28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~19.5K</a:t>
            </a:r>
            <a:endParaRPr lang="en-US" sz="2081" dirty="0"/>
          </a:p>
        </p:txBody>
      </p:sp>
      <p:sp>
        <p:nvSpPr>
          <p:cNvPr id="24" name="Text 21"/>
          <p:cNvSpPr/>
          <p:nvPr/>
        </p:nvSpPr>
        <p:spPr>
          <a:xfrm>
            <a:off x="8293894" y="1168673"/>
            <a:ext cx="242888" cy="242888"/>
          </a:xfrm>
          <a:prstGeom prst="roundRect">
            <a:avLst>
              <a:gd name="adj" fmla="val 39216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8316932" y="119171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26" name="Text 23"/>
          <p:cNvSpPr/>
          <p:nvPr/>
        </p:nvSpPr>
        <p:spPr>
          <a:xfrm>
            <a:off x="6865144" y="1504429"/>
            <a:ext cx="177193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Starlink Kenya subs - the universality gap</a:t>
            </a:r>
            <a:endParaRPr lang="en-US" sz="703" dirty="0"/>
          </a:p>
        </p:txBody>
      </p:sp>
      <p:sp>
        <p:nvSpPr>
          <p:cNvPr id="27" name="Text 24"/>
          <p:cNvSpPr/>
          <p:nvPr/>
        </p:nvSpPr>
        <p:spPr>
          <a:xfrm>
            <a:off x="460772" y="2008063"/>
            <a:ext cx="8222456" cy="2088877"/>
          </a:xfrm>
          <a:prstGeom prst="roundRect">
            <a:avLst>
              <a:gd name="adj" fmla="val 6384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0081" y="2604732"/>
            <a:ext cx="414338" cy="224028"/>
          </a:xfrm>
          <a:prstGeom prst="roundRect">
            <a:avLst>
              <a:gd name="adj" fmla="val 34014"/>
            </a:avLst>
          </a:prstGeom>
          <a:solidFill>
            <a:srgbClr val="E4EC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0081" y="2616733"/>
            <a:ext cx="538639" cy="256032"/>
          </a:xfrm>
          <a:prstGeom prst="rect">
            <a:avLst/>
          </a:prstGeom>
          <a:noFill/>
          <a:ln/>
        </p:spPr>
        <p:txBody>
          <a:bodyPr wrap="none" lIns="0" tIns="35719" rIns="0" bIns="35719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64431" y="2651671"/>
            <a:ext cx="2468880" cy="159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~110M</a:t>
            </a:r>
            <a:pPr algn="l" indent="0" marL="0">
              <a:lnSpc>
                <a:spcPts val="94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EA internet connections (indicative)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550444" y="2623877"/>
            <a:ext cx="4943475" cy="185738"/>
          </a:xfrm>
          <a:prstGeom prst="roundRect">
            <a:avLst>
              <a:gd name="adj" fmla="val 5123063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550444" y="2623877"/>
            <a:ext cx="4943475" cy="185738"/>
          </a:xfrm>
          <a:prstGeom prst="roundRect">
            <a:avLst>
              <a:gd name="adj" fmla="val 5123063"/>
            </a:avLst>
          </a:prstGeom>
          <a:solidFill>
            <a:srgbClr val="2D7A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50081" y="2940488"/>
            <a:ext cx="414338" cy="224028"/>
          </a:xfrm>
          <a:prstGeom prst="roundRect">
            <a:avLst>
              <a:gd name="adj" fmla="val 34014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50081" y="2952490"/>
            <a:ext cx="538639" cy="256032"/>
          </a:xfrm>
          <a:prstGeom prst="rect">
            <a:avLst/>
          </a:prstGeom>
          <a:noFill/>
          <a:ln/>
        </p:spPr>
        <p:txBody>
          <a:bodyPr wrap="none" lIns="0" tIns="35719" rIns="0" bIns="35719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164431" y="2987427"/>
            <a:ext cx="2336006" cy="159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03" b="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~40M</a:t>
            </a:r>
            <a:pPr algn="l" indent="0" marL="0">
              <a:lnSpc>
                <a:spcPts val="949"/>
              </a:lnSpc>
              <a:buNone/>
            </a:pPr>
            <a:r>
              <a:rPr lang="en-US" sz="703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smartphone users paying for data (indicative)</a:t>
            </a:r>
            <a:endParaRPr lang="en-US" sz="703" dirty="0"/>
          </a:p>
        </p:txBody>
      </p:sp>
      <p:sp>
        <p:nvSpPr>
          <p:cNvPr id="36" name="Text 33"/>
          <p:cNvSpPr/>
          <p:nvPr/>
        </p:nvSpPr>
        <p:spPr>
          <a:xfrm>
            <a:off x="3550444" y="2959633"/>
            <a:ext cx="4943475" cy="185738"/>
          </a:xfrm>
          <a:prstGeom prst="roundRect">
            <a:avLst>
              <a:gd name="adj" fmla="val 5123063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550444" y="2959633"/>
            <a:ext cx="1779575" cy="185738"/>
          </a:xfrm>
          <a:prstGeom prst="roundRect">
            <a:avLst>
              <a:gd name="adj" fmla="val 5123063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50081" y="3276244"/>
            <a:ext cx="414338" cy="224028"/>
          </a:xfrm>
          <a:prstGeom prst="roundRect">
            <a:avLst>
              <a:gd name="adj" fmla="val 34014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50081" y="3288246"/>
            <a:ext cx="538639" cy="256032"/>
          </a:xfrm>
          <a:prstGeom prst="rect">
            <a:avLst/>
          </a:prstGeom>
          <a:noFill/>
          <a:ln/>
        </p:spPr>
        <p:txBody>
          <a:bodyPr wrap="none" lIns="0" tIns="35719" rIns="0" bIns="35719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SOM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64431" y="3323183"/>
            <a:ext cx="2468880" cy="159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b="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1.5-2.0M</a:t>
            </a:r>
            <a:pPr algn="l" indent="0" marL="0">
              <a:lnSpc>
                <a:spcPts val="949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Year-3 MAU target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550444" y="3295390"/>
            <a:ext cx="4943475" cy="185738"/>
          </a:xfrm>
          <a:prstGeom prst="roundRect">
            <a:avLst>
              <a:gd name="adj" fmla="val 5123063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550444" y="3295390"/>
            <a:ext cx="123565" cy="185738"/>
          </a:xfrm>
          <a:prstGeom prst="roundRect">
            <a:avLst>
              <a:gd name="adj" fmla="val 7700785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60772" y="4218384"/>
            <a:ext cx="8222456" cy="521494"/>
          </a:xfrm>
          <a:prstGeom prst="roundRect">
            <a:avLst>
              <a:gd name="adj" fmla="val 2557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21506" y="4412717"/>
            <a:ext cx="57792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Uganda 44.3M mobile subs - Rwanda 5.5M internet users - Mawingu raised $20M Series C, Oct 2025. Funnel figures labeled indicative.</a:t>
            </a:r>
            <a:endParaRPr lang="en-US" sz="675" dirty="0"/>
          </a:p>
        </p:txBody>
      </p:sp>
      <p:pic>
        <p:nvPicPr>
          <p:cNvPr id="45" name="Image 1" descr="/tmp/h2p-fit-1791073886602-3vz1n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094" y="4293394"/>
            <a:ext cx="2143125" cy="371475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465094" y="4293394"/>
            <a:ext cx="2143125" cy="371475"/>
          </a:xfrm>
          <a:prstGeom prst="rect">
            <a:avLst/>
          </a:prstGeom>
          <a:solidFill>
            <a:srgbClr val="1A4A7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3" y="-1071562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-1071562"/>
            <a:ext cx="3571875" cy="3571875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55414"/>
            <a:ext cx="242888" cy="28575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5813" y="40005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10791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4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Everyone owns a slice. Nobody crosses ISP, money and evidence.</a:t>
            </a:r>
            <a:endParaRPr lang="en-US" sz="1913" dirty="0"/>
          </a:p>
        </p:txBody>
      </p:sp>
      <p:sp>
        <p:nvSpPr>
          <p:cNvPr id="7" name="Text 4"/>
          <p:cNvSpPr/>
          <p:nvPr/>
        </p:nvSpPr>
        <p:spPr>
          <a:xfrm>
            <a:off x="460772" y="1022226"/>
            <a:ext cx="8222456" cy="3174727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1025798"/>
          <a:ext cx="8215313" cy="914400"/>
        </p:xfrm>
        <a:graphic>
          <a:graphicData uri="http://schemas.openxmlformats.org/drawingml/2006/table">
            <a:tbl>
              <a:tblPr/>
              <a:tblGrid>
                <a:gridCol w="371475"/>
                <a:gridCol w="1657350"/>
                <a:gridCol w="1057275"/>
                <a:gridCol w="2477430"/>
                <a:gridCol w="265178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4A7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#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42863" marT="42863" marB="92869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Player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28588" marT="128588" marB="92869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Category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14300" marT="114300" marB="92869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Strength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14300" marT="114300" marB="92869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Gap LinkPulse fills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92869" marR="128588" marT="128588" marB="92869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7AB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42863" marT="42863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MySafaricom, Airtel, Telkom, Faiba apps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A7A9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Carrier self-care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Authoritative billing and payments for one operator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Single-carrier view; cannot be neutral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7AB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42863" marT="42863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Ookla Speedtest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A7A9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Measurement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Trusted one-shot speed brand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 billing, no owned history, no advocacy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7AB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42863" marT="42863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Fing / GlassWire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A7A9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Network tooling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Deep device-level visibility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Desktop, enthusiast-oriented; zero spend intelligence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7AB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42863" marT="42863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Truecaller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A7A9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SMS utility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400M-user proof of permission-based value exchange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Not connectivity-focused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D7AB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42863" marT="42863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Plan comparison sites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A7A9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Content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Tariff awareness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A254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Static; no personal usage or live quality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28588" marT="128588" marB="100013" anchor="ctr">
                    <a:lnL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0772" y="4318397"/>
            <a:ext cx="8222456" cy="421481"/>
          </a:xfrm>
          <a:prstGeom prst="roundRect">
            <a:avLst>
              <a:gd name="adj" fmla="val 31638"/>
            </a:avLst>
          </a:prstGeom>
          <a:solidFill>
            <a:srgbClr val="EEF3FA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35794" y="443626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828" dirty="0"/>
          </a:p>
        </p:txBody>
      </p:sp>
      <p:sp>
        <p:nvSpPr>
          <p:cNvPr id="11" name="Text 7"/>
          <p:cNvSpPr/>
          <p:nvPr/>
        </p:nvSpPr>
        <p:spPr>
          <a:xfrm>
            <a:off x="921544" y="4448770"/>
            <a:ext cx="75866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Moat: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cross-ISP billing corpus + community adapter registry + consumer-advocate brand a carrier can never occupy.</a:t>
            </a:r>
            <a:endParaRPr lang="en-US" sz="8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813" y="-1071562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-1071562"/>
            <a:ext cx="3571875" cy="3571875"/>
          </a:xfrm>
          <a:prstGeom prst="ellipse">
            <a:avLst/>
          </a:prstGeom>
          <a:solidFill>
            <a:srgbClr val="4DA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55414"/>
            <a:ext cx="242888" cy="28575"/>
          </a:xfrm>
          <a:prstGeom prst="roundRect">
            <a:avLst>
              <a:gd name="adj" fmla="val 66667"/>
            </a:avLst>
          </a:prstGeom>
          <a:solidFill>
            <a:srgbClr val="4D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5813" y="400050"/>
            <a:ext cx="7900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 (INDICATIVE)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10791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4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streams layered on one free utility.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460772" y="1067209"/>
            <a:ext cx="1943100" cy="324761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295809"/>
            <a:ext cx="1321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56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957388" y="1227944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991499" y="12620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477" dirty="0"/>
          </a:p>
        </p:txBody>
      </p:sp>
      <p:sp>
        <p:nvSpPr>
          <p:cNvPr id="11" name="Text 8"/>
          <p:cNvSpPr/>
          <p:nvPr/>
        </p:nvSpPr>
        <p:spPr>
          <a:xfrm>
            <a:off x="621506" y="1613706"/>
            <a:ext cx="162163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Consumer Pro</a:t>
            </a:r>
            <a:endParaRPr lang="en-US" sz="956" dirty="0"/>
          </a:p>
        </p:txBody>
      </p:sp>
      <p:sp>
        <p:nvSpPr>
          <p:cNvPr id="12" name="Text 9"/>
          <p:cNvSpPr/>
          <p:nvPr/>
        </p:nvSpPr>
        <p:spPr>
          <a:xfrm>
            <a:off x="621506" y="1838734"/>
            <a:ext cx="1621631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b="1" spc="-17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100-200</a:t>
            </a:r>
            <a:endParaRPr lang="en-US" sz="1294" dirty="0"/>
          </a:p>
        </p:txBody>
      </p:sp>
      <p:sp>
        <p:nvSpPr>
          <p:cNvPr id="13" name="Text 10"/>
          <p:cNvSpPr/>
          <p:nvPr/>
        </p:nvSpPr>
        <p:spPr>
          <a:xfrm>
            <a:off x="621506" y="2099481"/>
            <a:ext cx="16216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 month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21506" y="3764087"/>
            <a:ext cx="1621631" cy="7144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1506" y="3856955"/>
            <a:ext cx="16216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3-6% of MAU convert for deep history, family mode, evidence reports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53891" y="1067209"/>
            <a:ext cx="1943100" cy="324761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14625" y="1295809"/>
            <a:ext cx="1321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56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050506" y="1227944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084618" y="12620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🛒</a:t>
            </a:r>
            <a:endParaRPr lang="en-US" sz="1477" dirty="0"/>
          </a:p>
        </p:txBody>
      </p:sp>
      <p:sp>
        <p:nvSpPr>
          <p:cNvPr id="20" name="Text 17"/>
          <p:cNvSpPr/>
          <p:nvPr/>
        </p:nvSpPr>
        <p:spPr>
          <a:xfrm>
            <a:off x="2714625" y="1613706"/>
            <a:ext cx="162163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Bundle commissions</a:t>
            </a:r>
            <a:endParaRPr lang="en-US" sz="956" dirty="0"/>
          </a:p>
        </p:txBody>
      </p:sp>
      <p:sp>
        <p:nvSpPr>
          <p:cNvPr id="21" name="Text 18"/>
          <p:cNvSpPr/>
          <p:nvPr/>
        </p:nvSpPr>
        <p:spPr>
          <a:xfrm>
            <a:off x="2714625" y="1838734"/>
            <a:ext cx="1621631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b="1" spc="-17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3-7%</a:t>
            </a:r>
            <a:endParaRPr lang="en-US" sz="1294" dirty="0"/>
          </a:p>
        </p:txBody>
      </p:sp>
      <p:sp>
        <p:nvSpPr>
          <p:cNvPr id="22" name="Text 19"/>
          <p:cNvSpPr/>
          <p:nvPr/>
        </p:nvSpPr>
        <p:spPr>
          <a:xfrm>
            <a:off x="2714625" y="2099481"/>
            <a:ext cx="16216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transaction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14625" y="3764087"/>
            <a:ext cx="1621631" cy="7144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714625" y="3856955"/>
            <a:ext cx="16216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in-app purchases on M-Pesa rails; revenue before marketplace scale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47009" y="1067209"/>
            <a:ext cx="1943100" cy="324761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07744" y="1295809"/>
            <a:ext cx="1321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56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43625" y="1227944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77736" y="12620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77" dirty="0"/>
          </a:p>
        </p:txBody>
      </p:sp>
      <p:sp>
        <p:nvSpPr>
          <p:cNvPr id="29" name="Text 26"/>
          <p:cNvSpPr/>
          <p:nvPr/>
        </p:nvSpPr>
        <p:spPr>
          <a:xfrm>
            <a:off x="4807744" y="1613706"/>
            <a:ext cx="162163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SME monitoring</a:t>
            </a:r>
            <a:endParaRPr lang="en-US" sz="956" dirty="0"/>
          </a:p>
        </p:txBody>
      </p:sp>
      <p:sp>
        <p:nvSpPr>
          <p:cNvPr id="30" name="Text 27"/>
          <p:cNvSpPr/>
          <p:nvPr/>
        </p:nvSpPr>
        <p:spPr>
          <a:xfrm>
            <a:off x="4807744" y="1838734"/>
            <a:ext cx="1621631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b="1" spc="-17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KES 1,500-5,000</a:t>
            </a:r>
            <a:endParaRPr lang="en-US" sz="1294" dirty="0"/>
          </a:p>
        </p:txBody>
      </p:sp>
      <p:sp>
        <p:nvSpPr>
          <p:cNvPr id="31" name="Text 28"/>
          <p:cNvSpPr/>
          <p:nvPr/>
        </p:nvSpPr>
        <p:spPr>
          <a:xfrm>
            <a:off x="4807744" y="2099481"/>
            <a:ext cx="16216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 month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07744" y="3764087"/>
            <a:ext cx="1621631" cy="7144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07744" y="3856955"/>
            <a:ext cx="16216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multi-branch SLA evidence; 1-2% of urban SMEs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740128" y="1067209"/>
            <a:ext cx="1943100" cy="3247616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900863" y="1295809"/>
            <a:ext cx="1321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56" kern="0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36744" y="1227944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EEF3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270855" y="126205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77" dirty="0"/>
          </a:p>
        </p:txBody>
      </p:sp>
      <p:sp>
        <p:nvSpPr>
          <p:cNvPr id="38" name="Text 35"/>
          <p:cNvSpPr/>
          <p:nvPr/>
        </p:nvSpPr>
        <p:spPr>
          <a:xfrm>
            <a:off x="6900863" y="1613706"/>
            <a:ext cx="162163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QoS insights</a:t>
            </a:r>
            <a:endParaRPr lang="en-US" sz="956" dirty="0"/>
          </a:p>
        </p:txBody>
      </p:sp>
      <p:sp>
        <p:nvSpPr>
          <p:cNvPr id="39" name="Text 36"/>
          <p:cNvSpPr/>
          <p:nvPr/>
        </p:nvSpPr>
        <p:spPr>
          <a:xfrm>
            <a:off x="6900863" y="1838734"/>
            <a:ext cx="1621631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294" b="1" spc="-17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licensing</a:t>
            </a:r>
            <a:endParaRPr lang="en-US" sz="1294" dirty="0"/>
          </a:p>
        </p:txBody>
      </p:sp>
      <p:sp>
        <p:nvSpPr>
          <p:cNvPr id="40" name="Text 37"/>
          <p:cNvSpPr/>
          <p:nvPr/>
        </p:nvSpPr>
        <p:spPr>
          <a:xfrm>
            <a:off x="6900863" y="2099481"/>
            <a:ext cx="16216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(opt-in corpus)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900863" y="3764087"/>
            <a:ext cx="1621631" cy="7144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900863" y="3856955"/>
            <a:ext cx="162163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operators and regulators value independent estate-level data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60772" y="4479131"/>
            <a:ext cx="2261108" cy="260747"/>
          </a:xfrm>
          <a:prstGeom prst="roundRect">
            <a:avLst>
              <a:gd name="adj" fmla="val 364931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57238" y="4554141"/>
            <a:ext cx="2525650" cy="126609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Near-zero CAC - OSS + PWA word-of-mouth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78644" y="45487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195" dirty="0"/>
          </a:p>
        </p:txBody>
      </p:sp>
      <p:sp>
        <p:nvSpPr>
          <p:cNvPr id="46" name="Text 43"/>
          <p:cNvSpPr/>
          <p:nvPr/>
        </p:nvSpPr>
        <p:spPr>
          <a:xfrm>
            <a:off x="3300747" y="4479131"/>
            <a:ext cx="2226283" cy="260747"/>
          </a:xfrm>
          <a:prstGeom prst="roundRect">
            <a:avLst>
              <a:gd name="adj" fmla="val 364931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3597213" y="4554141"/>
            <a:ext cx="2490713" cy="126609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Blended ARPU KES 60-120 / mo at maturity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418619" y="45487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195" dirty="0"/>
          </a:p>
        </p:txBody>
      </p:sp>
      <p:sp>
        <p:nvSpPr>
          <p:cNvPr id="49" name="Text 46"/>
          <p:cNvSpPr/>
          <p:nvPr/>
        </p:nvSpPr>
        <p:spPr>
          <a:xfrm>
            <a:off x="6105785" y="4479131"/>
            <a:ext cx="2577443" cy="260747"/>
          </a:xfrm>
          <a:prstGeom prst="roundRect">
            <a:avLst>
              <a:gd name="adj" fmla="val 3649313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402251" y="4554141"/>
            <a:ext cx="2284549" cy="126609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 and compute live on-device - lean cost base</a:t>
            </a:r>
            <a:endParaRPr lang="en-US" sz="731" dirty="0"/>
          </a:p>
        </p:txBody>
      </p:sp>
      <p:sp>
        <p:nvSpPr>
          <p:cNvPr id="51" name="Text 48"/>
          <p:cNvSpPr/>
          <p:nvPr/>
        </p:nvSpPr>
        <p:spPr>
          <a:xfrm>
            <a:off x="6223657" y="454878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19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NOW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25078"/>
            <a:ext cx="8229600" cy="760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475" b="1" spc="-67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Competition broke the calm. </a:t>
            </a:r>
            <a:pPr algn="l" indent="0" marL="0">
              <a:lnSpc>
                <a:spcPts val="2772"/>
              </a:lnSpc>
              <a:buNone/>
            </a:pPr>
            <a:r>
              <a:rPr lang="en-US" sz="2475" b="1" spc="-67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Rails and regulation finished the setup.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60772" y="1589708"/>
            <a:ext cx="2621756" cy="2335783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36592" y="1721867"/>
            <a:ext cx="72537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56" kern="0" dirty="0">
                <a:solidFill>
                  <a:srgbClr val="E4EC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635794" y="1764729"/>
            <a:ext cx="371475" cy="371475"/>
          </a:xfrm>
          <a:prstGeom prst="roundRect">
            <a:avLst>
              <a:gd name="adj" fmla="val 33333"/>
            </a:avLst>
          </a:prstGeom>
          <a:solidFill>
            <a:srgbClr val="2D7AB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6872" y="181580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828" dirty="0"/>
          </a:p>
        </p:txBody>
      </p:sp>
      <p:sp>
        <p:nvSpPr>
          <p:cNvPr id="8" name="Text 6"/>
          <p:cNvSpPr/>
          <p:nvPr/>
        </p:nvSpPr>
        <p:spPr>
          <a:xfrm>
            <a:off x="635794" y="2250504"/>
            <a:ext cx="22717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Price war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35794" y="2521967"/>
            <a:ext cx="2271713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Starlink arrival and Airtel fixed entry at KES 1,999 triggered visible moves from every operator; consumers face real choices without real data.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61122" y="1589708"/>
            <a:ext cx="2621756" cy="2335783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36942" y="1721867"/>
            <a:ext cx="72537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56" kern="0" dirty="0">
                <a:solidFill>
                  <a:srgbClr val="E4EC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3436144" y="1764729"/>
            <a:ext cx="371475" cy="371475"/>
          </a:xfrm>
          <a:prstGeom prst="roundRect">
            <a:avLst>
              <a:gd name="adj" fmla="val 33333"/>
            </a:avLst>
          </a:prstGeom>
          <a:solidFill>
            <a:srgbClr val="2D7AB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7222" y="181580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828" dirty="0"/>
          </a:p>
        </p:txBody>
      </p:sp>
      <p:sp>
        <p:nvSpPr>
          <p:cNvPr id="14" name="Text 12"/>
          <p:cNvSpPr/>
          <p:nvPr/>
        </p:nvSpPr>
        <p:spPr>
          <a:xfrm>
            <a:off x="3436144" y="2250504"/>
            <a:ext cx="22717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Rails ready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436144" y="2521967"/>
            <a:ext cx="2271713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37.9M</a:t>
            </a:r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M-Pesa users; permission-based onboarding and commission flows have working precedents (banking apps, Truecaller).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61472" y="1589708"/>
            <a:ext cx="2621756" cy="2335783"/>
          </a:xfrm>
          <a:prstGeom prst="roundRect">
            <a:avLst>
              <a:gd name="adj" fmla="val 5709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37292" y="1721867"/>
            <a:ext cx="72537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56" kern="0" dirty="0">
                <a:solidFill>
                  <a:srgbClr val="E4EC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236494" y="1764729"/>
            <a:ext cx="371475" cy="371475"/>
          </a:xfrm>
          <a:prstGeom prst="roundRect">
            <a:avLst>
              <a:gd name="adj" fmla="val 33333"/>
            </a:avLst>
          </a:prstGeom>
          <a:solidFill>
            <a:srgbClr val="2D7AB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87572" y="181580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828" dirty="0"/>
          </a:p>
        </p:txBody>
      </p:sp>
      <p:sp>
        <p:nvSpPr>
          <p:cNvPr id="20" name="Text 18"/>
          <p:cNvSpPr/>
          <p:nvPr/>
        </p:nvSpPr>
        <p:spPr>
          <a:xfrm>
            <a:off x="6236494" y="2250504"/>
            <a:ext cx="2271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aligned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236494" y="2521967"/>
            <a:ext cx="2271713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Communications Authority already publishes QoS statistics; independent consumer measurement aligns with regulation.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0772" y="4161234"/>
            <a:ext cx="8222456" cy="578644"/>
          </a:xfrm>
          <a:prstGeom prst="roundRect">
            <a:avLst>
              <a:gd name="adj" fmla="val 23045"/>
            </a:avLst>
          </a:prstGeom>
          <a:solidFill>
            <a:srgbClr val="EEF3FA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4369" y="4391620"/>
            <a:ext cx="10287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69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MOMENTUM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50181" y="4336256"/>
            <a:ext cx="7144" cy="228600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03772" y="4341614"/>
            <a:ext cx="1840632" cy="217884"/>
          </a:xfrm>
          <a:prstGeom prst="roundRect">
            <a:avLst>
              <a:gd name="adj" fmla="val 436722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864519" y="4395192"/>
            <a:ext cx="1626319" cy="126609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Mawingu $20M Series C (Oct 2025)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1707356" y="43934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537272" y="4341614"/>
            <a:ext cx="1693850" cy="217884"/>
          </a:xfrm>
          <a:prstGeom prst="roundRect">
            <a:avLst>
              <a:gd name="adj" fmla="val 436722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98019" y="4395192"/>
            <a:ext cx="1479538" cy="126609"/>
          </a:xfrm>
          <a:prstGeom prst="rect">
            <a:avLst/>
          </a:prstGeom>
          <a:noFill/>
          <a:ln/>
        </p:spPr>
        <p:txBody>
          <a:bodyPr wrap="none" lIns="100013" tIns="35719" rIns="100013" bIns="35719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A254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Kenya fixed market +32.4% YoY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3640857" y="43934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5323991" y="4341614"/>
            <a:ext cx="2024137" cy="217884"/>
          </a:xfrm>
          <a:prstGeom prst="roundRect">
            <a:avLst>
              <a:gd name="adj" fmla="val 4367221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84738" y="4395192"/>
            <a:ext cx="1766962" cy="126609"/>
          </a:xfrm>
          <a:prstGeom prst="rect">
            <a:avLst/>
          </a:prstGeom>
          <a:noFill/>
          <a:ln/>
        </p:spPr>
        <p:txBody>
          <a:bodyPr wrap="square" lIns="100013" tIns="35719" rIns="100013" bIns="35719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Zuku prepaid bundles + Airtel fixed entry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5427576" y="43934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DEFENSIBILITY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25078"/>
            <a:ext cx="8636000" cy="67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56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that compounds, community that ships, </a:t>
            </a:r>
            <a:pPr algn="l" indent="0" marL="0">
              <a:lnSpc>
                <a:spcPts val="2458"/>
              </a:lnSpc>
              <a:buNone/>
            </a:pPr>
            <a:r>
              <a:rPr lang="en-US" sz="2138" b="1" spc="-56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brand carriers cannot buy.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60772" y="1481435"/>
            <a:ext cx="5307806" cy="1005148"/>
          </a:xfrm>
          <a:prstGeom prst="roundRect">
            <a:avLst>
              <a:gd name="adj" fmla="val 1326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65645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2D7AB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2943" y="170360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1092994" y="1656457"/>
            <a:ext cx="4500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Billing corpus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092994" y="1892201"/>
            <a:ext cx="450056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Anonymized, operator-normalized spend + quality grows more predictive with every user; incumbents cannot retrofit it without hosting rivals data.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460772" y="2608027"/>
            <a:ext cx="5307806" cy="1005260"/>
          </a:xfrm>
          <a:prstGeom prst="roundRect">
            <a:avLst>
              <a:gd name="adj" fmla="val 13265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5794" y="2783049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2D7AB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2943" y="283019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1092994" y="2783049"/>
            <a:ext cx="4500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Adapter registry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1092994" y="3018792"/>
            <a:ext cx="4401443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Open-source, versioned parsers become the canonical library for East African billing formats.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460772" y="3734730"/>
            <a:ext cx="5307806" cy="1005148"/>
          </a:xfrm>
          <a:prstGeom prst="roundRect">
            <a:avLst>
              <a:gd name="adj" fmla="val 13267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794" y="3909752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2D7AB3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2943" y="395690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1092994" y="3909752"/>
            <a:ext cx="4500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Advocate brand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1092994" y="4145496"/>
            <a:ext cx="450056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Privacy-first OSS DNA inherited from Dishylink is a position carrier-owned apps can never occupy.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5975747" y="1481435"/>
            <a:ext cx="2707481" cy="3258443"/>
          </a:xfrm>
          <a:prstGeom prst="roundRect">
            <a:avLst>
              <a:gd name="adj" fmla="val 4925"/>
            </a:avLst>
          </a:prstGeom>
          <a:solidFill>
            <a:srgbClr val="EEF3FA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50769" y="1656457"/>
            <a:ext cx="6325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69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31856" y="1711821"/>
            <a:ext cx="1876351" cy="7144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50769" y="199600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336" dirty="0"/>
          </a:p>
        </p:txBody>
      </p:sp>
      <p:sp>
        <p:nvSpPr>
          <p:cNvPr id="23" name="Text 21"/>
          <p:cNvSpPr/>
          <p:nvPr/>
        </p:nvSpPr>
        <p:spPr>
          <a:xfrm>
            <a:off x="6343650" y="1975470"/>
            <a:ext cx="2164556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Truecaller</a:t>
            </a:r>
            <a:endParaRPr lang="en-US" sz="928" dirty="0"/>
          </a:p>
        </p:txBody>
      </p:sp>
      <p:sp>
        <p:nvSpPr>
          <p:cNvPr id="24" name="Text 22"/>
          <p:cNvSpPr/>
          <p:nvPr/>
        </p:nvSpPr>
        <p:spPr>
          <a:xfrm>
            <a:off x="6150769" y="2180853"/>
            <a:ext cx="2357438" cy="159053"/>
          </a:xfrm>
          <a:prstGeom prst="rect">
            <a:avLst/>
          </a:prstGeom>
          <a:noFill/>
          <a:ln/>
        </p:spPr>
        <p:txBody>
          <a:bodyPr wrap="square" lIns="192881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0A2540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Permission utility to ~400M users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50769" y="2491606"/>
            <a:ext cx="235743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0769" y="268828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336" dirty="0"/>
          </a:p>
        </p:txBody>
      </p:sp>
      <p:sp>
        <p:nvSpPr>
          <p:cNvPr id="27" name="Text 25"/>
          <p:cNvSpPr/>
          <p:nvPr/>
        </p:nvSpPr>
        <p:spPr>
          <a:xfrm>
            <a:off x="6343650" y="2667744"/>
            <a:ext cx="2164556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Fing</a:t>
            </a:r>
            <a:endParaRPr lang="en-US" sz="928" dirty="0"/>
          </a:p>
        </p:txBody>
      </p:sp>
      <p:sp>
        <p:nvSpPr>
          <p:cNvPr id="28" name="Text 26"/>
          <p:cNvSpPr/>
          <p:nvPr/>
        </p:nvSpPr>
        <p:spPr>
          <a:xfrm>
            <a:off x="6150769" y="2873127"/>
            <a:ext cx="2357438" cy="159053"/>
          </a:xfrm>
          <a:prstGeom prst="rect">
            <a:avLst/>
          </a:prstGeom>
          <a:noFill/>
          <a:ln/>
        </p:spPr>
        <p:txBody>
          <a:bodyPr wrap="square" lIns="192881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0A25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 scanner to platform business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50769" y="3183880"/>
            <a:ext cx="235743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0769" y="3380556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1" name="Text 29"/>
          <p:cNvSpPr/>
          <p:nvPr/>
        </p:nvSpPr>
        <p:spPr>
          <a:xfrm>
            <a:off x="6343650" y="3360018"/>
            <a:ext cx="2164556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Ookla</a:t>
            </a:r>
            <a:endParaRPr lang="en-US" sz="928" dirty="0"/>
          </a:p>
        </p:txBody>
      </p:sp>
      <p:sp>
        <p:nvSpPr>
          <p:cNvPr id="32" name="Text 30"/>
          <p:cNvSpPr/>
          <p:nvPr/>
        </p:nvSpPr>
        <p:spPr>
          <a:xfrm>
            <a:off x="6150769" y="3565401"/>
            <a:ext cx="2357438" cy="159053"/>
          </a:xfrm>
          <a:prstGeom prst="rect">
            <a:avLst/>
          </a:prstGeom>
          <a:noFill/>
          <a:ln/>
        </p:spPr>
        <p:txBody>
          <a:bodyPr wrap="square" lIns="192881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0A2540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Measurement data franchise, acquired by Ziff Davis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6150769" y="3876154"/>
            <a:ext cx="235743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0769" y="4072830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5" name="Text 33"/>
          <p:cNvSpPr/>
          <p:nvPr/>
        </p:nvSpPr>
        <p:spPr>
          <a:xfrm>
            <a:off x="6343650" y="4052292"/>
            <a:ext cx="2164556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Mawingu</a:t>
            </a:r>
            <a:endParaRPr lang="en-US" sz="928" dirty="0"/>
          </a:p>
        </p:txBody>
      </p:sp>
      <p:sp>
        <p:nvSpPr>
          <p:cNvPr id="36" name="Text 34"/>
          <p:cNvSpPr/>
          <p:nvPr/>
        </p:nvSpPr>
        <p:spPr>
          <a:xfrm>
            <a:off x="6150769" y="4257675"/>
            <a:ext cx="2357438" cy="159053"/>
          </a:xfrm>
          <a:prstGeom prst="rect">
            <a:avLst/>
          </a:prstGeom>
          <a:noFill/>
          <a:ln/>
        </p:spPr>
        <p:txBody>
          <a:bodyPr wrap="none" lIns="192881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0A2540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$20M for EA connectivity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1A4A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ROADMAP - 18 MONTHS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25078"/>
            <a:ext cx="8636000" cy="3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475" b="1" spc="-67" kern="0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phase ships </a:t>
            </a:r>
            <a:pPr algn="l" indent="0" marL="0">
              <a:lnSpc>
                <a:spcPts val="2772"/>
              </a:lnSpc>
              <a:buNone/>
            </a:pPr>
            <a:r>
              <a:rPr lang="en-US" sz="2475" b="1" spc="-67" kern="0" dirty="0">
                <a:solidFill>
                  <a:srgbClr val="2D7A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proof, not promises.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1280071" y="1595735"/>
            <a:ext cx="6583859" cy="14288"/>
          </a:xfrm>
          <a:prstGeom prst="rect">
            <a:avLst/>
          </a:prstGeom>
          <a:solidFill>
            <a:srgbClr val="C0D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40780" y="1563588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FFFFFF"/>
          </a:solidFill>
          <a:ln w="21431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86745" y="1563588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FFFFFF"/>
          </a:solidFill>
          <a:ln w="21431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32598" y="1563588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FFFFFF"/>
          </a:solidFill>
          <a:ln w="21431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78562" y="1563588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FFFFFF"/>
          </a:solidFill>
          <a:ln w="21431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24415" y="1563588"/>
            <a:ext cx="78581" cy="78581"/>
          </a:xfrm>
          <a:prstGeom prst="roundRect">
            <a:avLst>
              <a:gd name="adj" fmla="val 121200386"/>
            </a:avLst>
          </a:prstGeom>
          <a:solidFill>
            <a:srgbClr val="2D7AB3"/>
          </a:solidFill>
          <a:ln w="21431">
            <a:solidFill>
              <a:srgbClr val="2D7AB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0772" y="1849338"/>
            <a:ext cx="1547292" cy="23931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119" y="1984641"/>
            <a:ext cx="380699" cy="208026"/>
          </a:xfrm>
          <a:prstGeom prst="roundRect">
            <a:avLst>
              <a:gd name="adj" fmla="val 32051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7219" y="1995785"/>
            <a:ext cx="3524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M0-3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18742" y="2017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607219" y="2267248"/>
            <a:ext cx="125439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607219" y="2492276"/>
            <a:ext cx="13296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PWA MVP: probes, outage log, manual spend, OSS repo public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7219" y="3610719"/>
            <a:ext cx="125439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219" y="3700016"/>
            <a:ext cx="125439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7219" y="3835747"/>
            <a:ext cx="125439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5,000 installs, 40% W4 retention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29507" y="1849338"/>
            <a:ext cx="1547292" cy="23931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261854" y="1984641"/>
            <a:ext cx="380699" cy="208026"/>
          </a:xfrm>
          <a:prstGeom prst="roundRect">
            <a:avLst>
              <a:gd name="adj" fmla="val 32051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75954" y="1995785"/>
            <a:ext cx="3524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M4-6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7477" y="2017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2275954" y="2267248"/>
            <a:ext cx="125439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2275954" y="2492276"/>
            <a:ext cx="13296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Android shell beta: SSID, billing SMS parsing, M-Pesa import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75954" y="3610719"/>
            <a:ext cx="125439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75954" y="3700016"/>
            <a:ext cx="125439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75954" y="3835747"/>
            <a:ext cx="1254398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25K MAU, 1M events parsed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98243" y="1849338"/>
            <a:ext cx="1547403" cy="23931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30589" y="1984641"/>
            <a:ext cx="380699" cy="208026"/>
          </a:xfrm>
          <a:prstGeom prst="roundRect">
            <a:avLst>
              <a:gd name="adj" fmla="val 32051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44689" y="1995785"/>
            <a:ext cx="3524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M7-9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56324" y="2017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3944689" y="2267248"/>
            <a:ext cx="1254509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</a:t>
            </a:r>
            <a:endParaRPr lang="en-US" sz="956" dirty="0"/>
          </a:p>
        </p:txBody>
      </p:sp>
      <p:sp>
        <p:nvSpPr>
          <p:cNvPr id="33" name="Text 31"/>
          <p:cNvSpPr/>
          <p:nvPr/>
        </p:nvSpPr>
        <p:spPr>
          <a:xfrm>
            <a:off x="3944689" y="2492276"/>
            <a:ext cx="1329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Bundle commissions, switching advisor v1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44689" y="3610719"/>
            <a:ext cx="1254509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44689" y="3700016"/>
            <a:ext cx="125450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44689" y="3835747"/>
            <a:ext cx="1254509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50K MAU, first commission revenue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67090" y="1849338"/>
            <a:ext cx="1547292" cy="23931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95338" y="1984641"/>
            <a:ext cx="491365" cy="208026"/>
          </a:xfrm>
          <a:prstGeom prst="roundRect">
            <a:avLst>
              <a:gd name="adj" fmla="val 32051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10439" y="1995785"/>
            <a:ext cx="4611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M10-12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25059" y="2017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5613536" y="2267248"/>
            <a:ext cx="125439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Expansion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5613536" y="2492276"/>
            <a:ext cx="12543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SME tier, Uganda, QoS map v1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13536" y="3610719"/>
            <a:ext cx="1254398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3536" y="3700016"/>
            <a:ext cx="125439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13536" y="3835747"/>
            <a:ext cx="1254398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150K MAU, 100 paying SMEs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35825" y="1849338"/>
            <a:ext cx="1547403" cy="2393156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7144">
            <a:solidFill>
              <a:srgbClr val="C0D0E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264073" y="1984641"/>
            <a:ext cx="491365" cy="208026"/>
          </a:xfrm>
          <a:prstGeom prst="roundRect">
            <a:avLst>
              <a:gd name="adj" fmla="val 32051"/>
            </a:avLst>
          </a:prstGeom>
          <a:solidFill>
            <a:srgbClr val="1A4A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79174" y="1995785"/>
            <a:ext cx="4611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M13-18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393906" y="2017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7A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50" name="Text 48"/>
          <p:cNvSpPr/>
          <p:nvPr/>
        </p:nvSpPr>
        <p:spPr>
          <a:xfrm>
            <a:off x="7282272" y="2267248"/>
            <a:ext cx="1254509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A25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Depth</a:t>
            </a:r>
            <a:endParaRPr lang="en-US" sz="956" dirty="0"/>
          </a:p>
        </p:txBody>
      </p:sp>
      <p:sp>
        <p:nvSpPr>
          <p:cNvPr id="51" name="Text 49"/>
          <p:cNvSpPr/>
          <p:nvPr/>
        </p:nvSpPr>
        <p:spPr>
          <a:xfrm>
            <a:off x="7282272" y="2492276"/>
            <a:ext cx="1329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A7A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Tanzania, Rwanda, router agent, insights API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282272" y="3610719"/>
            <a:ext cx="1254509" cy="0"/>
          </a:xfrm>
          <a:prstGeom prst="line">
            <a:avLst/>
          </a:prstGeom>
          <a:noFill/>
          <a:ln w="7144">
            <a:solidFill>
              <a:srgbClr val="C0D0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82272" y="3700016"/>
            <a:ext cx="1254509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1A4A7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282272" y="3835747"/>
            <a:ext cx="1254509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800" b="1" dirty="0">
                <a:solidFill>
                  <a:srgbClr val="2D7AB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400K MAU, breakeven trajectory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7AB3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5893594" y="2255639"/>
            <a:ext cx="2586038" cy="0"/>
          </a:xfrm>
          <a:prstGeom prst="line">
            <a:avLst/>
          </a:prstGeom>
          <a:noFill/>
          <a:ln w="7144">
            <a:solidFill>
              <a:srgbClr val="7A9BB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93594" y="2623542"/>
            <a:ext cx="2586038" cy="0"/>
          </a:xfrm>
          <a:prstGeom prst="line">
            <a:avLst/>
          </a:prstGeom>
          <a:noFill/>
          <a:ln w="7144">
            <a:solidFill>
              <a:srgbClr val="7A9BB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454128"/>
            <a:ext cx="8229600" cy="0"/>
          </a:xfrm>
          <a:prstGeom prst="line">
            <a:avLst/>
          </a:prstGeom>
          <a:noFill/>
          <a:ln w="7144">
            <a:solidFill>
              <a:srgbClr val="7A9B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00050"/>
            <a:ext cx="7329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25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ASK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653653"/>
            <a:ext cx="2821245" cy="678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950" b="1" spc="-141" kern="0" dirty="0">
                <a:solidFill>
                  <a:srgbClr val="E8F0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$400K</a:t>
            </a:r>
            <a:endParaRPr lang="en-US" sz="4950" dirty="0"/>
          </a:p>
        </p:txBody>
      </p:sp>
      <p:sp>
        <p:nvSpPr>
          <p:cNvPr id="9" name="Text 6"/>
          <p:cNvSpPr/>
          <p:nvPr/>
        </p:nvSpPr>
        <p:spPr>
          <a:xfrm>
            <a:off x="2334778" y="932259"/>
            <a:ext cx="300874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spc="-28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pre-seed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1368028"/>
            <a:ext cx="442912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Indicative - 18 months of runway to 50,000 MAU and two live revenue streams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768078"/>
            <a:ext cx="67574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69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2021681"/>
            <a:ext cx="457177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PWA, Android, adapters (4-person team)</a:t>
            </a:r>
            <a:endParaRPr lang="en-US" sz="844" dirty="0"/>
          </a:p>
        </p:txBody>
      </p:sp>
      <p:sp>
        <p:nvSpPr>
          <p:cNvPr id="13" name="Text 10"/>
          <p:cNvSpPr/>
          <p:nvPr/>
        </p:nvSpPr>
        <p:spPr>
          <a:xfrm>
            <a:off x="5086127" y="2000250"/>
            <a:ext cx="41183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</a:t>
            </a:r>
            <a:endParaRPr lang="en-US" sz="1013" dirty="0"/>
          </a:p>
        </p:txBody>
      </p:sp>
      <p:sp>
        <p:nvSpPr>
          <p:cNvPr id="14" name="Text 11"/>
          <p:cNvSpPr/>
          <p:nvPr/>
        </p:nvSpPr>
        <p:spPr>
          <a:xfrm>
            <a:off x="457200" y="2250281"/>
            <a:ext cx="4886325" cy="71438"/>
          </a:xfrm>
          <a:prstGeom prst="roundRect">
            <a:avLst>
              <a:gd name="adj" fmla="val 133319067"/>
            </a:avLst>
          </a:prstGeom>
          <a:solidFill>
            <a:srgbClr val="FFFFFF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50281"/>
            <a:ext cx="2931728" cy="714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2457450"/>
            <a:ext cx="457177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Growth and community </a:t>
            </a:r>
            <a:pPr algn="l" indent="0" marL="0">
              <a:lnSpc>
                <a:spcPts val="1266"/>
              </a:lnSpc>
              <a:buNone/>
            </a:pPr>
            <a:r>
              <a:rPr lang="en-US" sz="80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 estates, campuses, OSS</a:t>
            </a:r>
            <a:endParaRPr lang="en-US" sz="844" dirty="0"/>
          </a:p>
        </p:txBody>
      </p:sp>
      <p:sp>
        <p:nvSpPr>
          <p:cNvPr id="17" name="Text 13"/>
          <p:cNvSpPr/>
          <p:nvPr/>
        </p:nvSpPr>
        <p:spPr>
          <a:xfrm>
            <a:off x="5086127" y="2436019"/>
            <a:ext cx="41183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1013" dirty="0"/>
          </a:p>
        </p:txBody>
      </p:sp>
      <p:sp>
        <p:nvSpPr>
          <p:cNvPr id="18" name="Text 14"/>
          <p:cNvSpPr/>
          <p:nvPr/>
        </p:nvSpPr>
        <p:spPr>
          <a:xfrm>
            <a:off x="457200" y="2686050"/>
            <a:ext cx="4886325" cy="71438"/>
          </a:xfrm>
          <a:prstGeom prst="roundRect">
            <a:avLst>
              <a:gd name="adj" fmla="val 133319067"/>
            </a:avLst>
          </a:prstGeom>
          <a:solidFill>
            <a:srgbClr val="FFFFFF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6050"/>
            <a:ext cx="1221581" cy="714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2893219"/>
            <a:ext cx="457177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Operations and compliance</a:t>
            </a:r>
            <a:endParaRPr lang="en-US" sz="844" dirty="0"/>
          </a:p>
        </p:txBody>
      </p:sp>
      <p:sp>
        <p:nvSpPr>
          <p:cNvPr id="21" name="Text 16"/>
          <p:cNvSpPr/>
          <p:nvPr/>
        </p:nvSpPr>
        <p:spPr>
          <a:xfrm>
            <a:off x="5086127" y="2871788"/>
            <a:ext cx="41183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4DA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22" name="Text 17"/>
          <p:cNvSpPr/>
          <p:nvPr/>
        </p:nvSpPr>
        <p:spPr>
          <a:xfrm>
            <a:off x="457200" y="3121819"/>
            <a:ext cx="4886325" cy="71438"/>
          </a:xfrm>
          <a:prstGeom prst="roundRect">
            <a:avLst>
              <a:gd name="adj" fmla="val 133319067"/>
            </a:avLst>
          </a:prstGeom>
          <a:solidFill>
            <a:srgbClr val="FFFFFF">
              <a:alpha val="9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21819"/>
            <a:ext cx="732904" cy="714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3879056"/>
            <a:ext cx="4886325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spc="-11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Dishylink proved the pattern. East Africa is the market. LinkPulse is the utility.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5689997" y="1487686"/>
            <a:ext cx="2993231" cy="1703784"/>
          </a:xfrm>
          <a:prstGeom prst="roundRect">
            <a:avLst>
              <a:gd name="adj" fmla="val 8945"/>
            </a:avLst>
          </a:prstGeom>
          <a:solidFill>
            <a:srgbClr val="E8F0F8">
              <a:alpha val="6000"/>
            </a:srgbClr>
          </a:solidFill>
          <a:ln w="7144">
            <a:solidFill>
              <a:srgbClr val="7A9B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893594" y="16912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27" name="Text 21"/>
          <p:cNvSpPr/>
          <p:nvPr/>
        </p:nvSpPr>
        <p:spPr>
          <a:xfrm>
            <a:off x="6107906" y="1698427"/>
            <a:ext cx="2371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69" kern="0" dirty="0">
                <a:solidFill>
                  <a:srgbClr val="4DA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893594" y="200382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336" dirty="0"/>
          </a:p>
        </p:txBody>
      </p:sp>
      <p:sp>
        <p:nvSpPr>
          <p:cNvPr id="29" name="Text 23"/>
          <p:cNvSpPr/>
          <p:nvPr/>
        </p:nvSpPr>
        <p:spPr>
          <a:xfrm>
            <a:off x="6115050" y="1991320"/>
            <a:ext cx="236458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MVP in 90 days</a:t>
            </a:r>
            <a:endParaRPr lang="en-US" sz="844" dirty="0"/>
          </a:p>
        </p:txBody>
      </p:sp>
      <p:sp>
        <p:nvSpPr>
          <p:cNvPr id="30" name="Text 24"/>
          <p:cNvSpPr/>
          <p:nvPr/>
        </p:nvSpPr>
        <p:spPr>
          <a:xfrm>
            <a:off x="5893594" y="2371725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336" dirty="0"/>
          </a:p>
        </p:txBody>
      </p:sp>
      <p:sp>
        <p:nvSpPr>
          <p:cNvPr id="31" name="Text 25"/>
          <p:cNvSpPr/>
          <p:nvPr/>
        </p:nvSpPr>
        <p:spPr>
          <a:xfrm>
            <a:off x="6115050" y="2359223"/>
            <a:ext cx="2364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Billing intelligence by month 6</a:t>
            </a:r>
            <a:endParaRPr lang="en-US" sz="844" dirty="0"/>
          </a:p>
        </p:txBody>
      </p:sp>
      <p:sp>
        <p:nvSpPr>
          <p:cNvPr id="32" name="Text 26"/>
          <p:cNvSpPr/>
          <p:nvPr/>
        </p:nvSpPr>
        <p:spPr>
          <a:xfrm>
            <a:off x="5893594" y="2739628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336" dirty="0"/>
          </a:p>
        </p:txBody>
      </p:sp>
      <p:sp>
        <p:nvSpPr>
          <p:cNvPr id="33" name="Text 27"/>
          <p:cNvSpPr/>
          <p:nvPr/>
        </p:nvSpPr>
        <p:spPr>
          <a:xfrm>
            <a:off x="6115050" y="2727127"/>
            <a:ext cx="236458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8F0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Seed-round evidence by month 18</a:t>
            </a:r>
            <a:endParaRPr lang="en-US" sz="844" dirty="0"/>
          </a:p>
        </p:txBody>
      </p:sp>
      <p:sp>
        <p:nvSpPr>
          <p:cNvPr id="34" name="Text 28"/>
          <p:cNvSpPr/>
          <p:nvPr/>
        </p:nvSpPr>
        <p:spPr>
          <a:xfrm>
            <a:off x="457200" y="46005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DA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125" dirty="0"/>
          </a:p>
        </p:txBody>
      </p:sp>
      <p:sp>
        <p:nvSpPr>
          <p:cNvPr id="35" name="Text 29"/>
          <p:cNvSpPr/>
          <p:nvPr/>
        </p:nvSpPr>
        <p:spPr>
          <a:xfrm>
            <a:off x="657225" y="4590752"/>
            <a:ext cx="1581626" cy="15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hello@linkpulse.app (placeholder)</a:t>
            </a:r>
            <a:endParaRPr lang="en-US" sz="703" dirty="0"/>
          </a:p>
        </p:txBody>
      </p:sp>
      <p:sp>
        <p:nvSpPr>
          <p:cNvPr id="36" name="Text 30"/>
          <p:cNvSpPr/>
          <p:nvPr/>
        </p:nvSpPr>
        <p:spPr>
          <a:xfrm>
            <a:off x="2207419" y="4572000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9BB8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2321047" y="4590752"/>
            <a:ext cx="425339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spc="28" kern="0" dirty="0">
                <a:solidFill>
                  <a:srgbClr val="7A9B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Nairobi</a:t>
            </a:r>
            <a:endParaRPr lang="en-US" sz="703" dirty="0"/>
          </a:p>
        </p:txBody>
      </p:sp>
      <p:sp>
        <p:nvSpPr>
          <p:cNvPr id="38" name="Text 32"/>
          <p:cNvSpPr/>
          <p:nvPr/>
        </p:nvSpPr>
        <p:spPr>
          <a:xfrm>
            <a:off x="2724894" y="4572000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A9BB8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2848682" y="4590752"/>
            <a:ext cx="5838118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28" kern="0" dirty="0">
                <a:solidFill>
                  <a:srgbClr val="7A9B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2026-10-04T00:31:28Z</dcterms:created>
  <dcterms:modified xsi:type="dcterms:W3CDTF">2026-10-04T00:31:28Z</dcterms:modified>
</cp:coreProperties>
</file>